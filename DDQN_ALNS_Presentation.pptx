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2"/>
  <c:chart>
    <c:title>
      <c:tx>
        <c:rich>
          <a:bodyPr/>
          <a:lstStyle/>
          <a:p>
            <a:r>
              <a:rPr sz="1200">
                <a:solidFill>
                  <a:srgbClr val="F8FAFC"/>
                </a:solidFill>
              </a:rPr>
              <a:t>Gap% vs BKS — 6 họ Solomon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Hybrid-DDQN</c:v>
                </c:pt>
              </c:strCache>
            </c:strRef>
          </c:tx>
          <c:spPr>
            <a:solidFill>
              <a:srgbClr val="6366F1"/>
            </a:solidFill>
          </c:spPr>
          <c:cat>
            <c:strRef>
              <c:f>Sheet1!$A$2:$A$7</c:f>
              <c:strCache>
                <c:ptCount val="6"/>
                <c:pt idx="0">
                  <c:v>C1</c:v>
                </c:pt>
                <c:pt idx="1">
                  <c:v>C2</c:v>
                </c:pt>
                <c:pt idx="2">
                  <c:v>R1</c:v>
                </c:pt>
                <c:pt idx="3">
                  <c:v>R2</c:v>
                </c:pt>
                <c:pt idx="4">
                  <c:v>RC1</c:v>
                </c:pt>
                <c:pt idx="5">
                  <c:v>RC2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0.01</c:v>
                </c:pt>
                <c:pt idx="1">
                  <c:v>1.68</c:v>
                </c:pt>
                <c:pt idx="2">
                  <c:v>-0.75</c:v>
                </c:pt>
                <c:pt idx="3">
                  <c:v>0.01</c:v>
                </c:pt>
                <c:pt idx="4">
                  <c:v>-0.36</c:v>
                </c:pt>
                <c:pt idx="5">
                  <c:v>0.9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Transfer-DR</c:v>
                </c:pt>
              </c:strCache>
            </c:strRef>
          </c:tx>
          <c:spPr>
            <a:solidFill>
              <a:srgbClr val="F59E0B"/>
            </a:solidFill>
          </c:spPr>
          <c:cat>
            <c:strRef>
              <c:f>Sheet1!$A$2:$A$7</c:f>
              <c:strCache>
                <c:ptCount val="6"/>
                <c:pt idx="0">
                  <c:v>C1</c:v>
                </c:pt>
                <c:pt idx="1">
                  <c:v>C2</c:v>
                </c:pt>
                <c:pt idx="2">
                  <c:v>R1</c:v>
                </c:pt>
                <c:pt idx="3">
                  <c:v>R2</c:v>
                </c:pt>
                <c:pt idx="4">
                  <c:v>RC1</c:v>
                </c:pt>
                <c:pt idx="5">
                  <c:v>RC2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0.36</c:v>
                </c:pt>
                <c:pt idx="1">
                  <c:v>4.88</c:v>
                </c:pt>
                <c:pt idx="2">
                  <c:v>-0.17</c:v>
                </c:pt>
                <c:pt idx="3">
                  <c:v>1.12</c:v>
                </c:pt>
                <c:pt idx="4">
                  <c:v>1.17</c:v>
                </c:pt>
                <c:pt idx="5">
                  <c:v>3.63</c:v>
                </c:pt>
              </c:numCache>
            </c:numRef>
          </c:val>
        </c:ser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94A3B8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94A3B8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F8FAFC"/>
          </a:solidFill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" cy="6858000"/>
          </a:xfrm>
          <a:prstGeom prst="rect">
            <a:avLst/>
          </a:prstGeom>
          <a:solidFill>
            <a:srgbClr val="6366F1">
              <a:alpha val="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0"/>
            <a:ext cx="9144" cy="6858000"/>
          </a:xfrm>
          <a:prstGeom prst="rect">
            <a:avLst/>
          </a:prstGeom>
          <a:solidFill>
            <a:srgbClr val="6366F1">
              <a:alpha val="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28800" y="0"/>
            <a:ext cx="9144" cy="6858000"/>
          </a:xfrm>
          <a:prstGeom prst="rect">
            <a:avLst/>
          </a:prstGeom>
          <a:solidFill>
            <a:srgbClr val="6366F1">
              <a:alpha val="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0" y="0"/>
            <a:ext cx="9144" cy="6858000"/>
          </a:xfrm>
          <a:prstGeom prst="rect">
            <a:avLst/>
          </a:prstGeom>
          <a:solidFill>
            <a:srgbClr val="6366F1">
              <a:alpha val="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0" y="0"/>
            <a:ext cx="9144" cy="6858000"/>
          </a:xfrm>
          <a:prstGeom prst="rect">
            <a:avLst/>
          </a:prstGeom>
          <a:solidFill>
            <a:srgbClr val="6366F1">
              <a:alpha val="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0" y="0"/>
            <a:ext cx="9144" cy="6858000"/>
          </a:xfrm>
          <a:prstGeom prst="rect">
            <a:avLst/>
          </a:prstGeom>
          <a:solidFill>
            <a:srgbClr val="6366F1">
              <a:alpha val="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0" y="0"/>
            <a:ext cx="9144" cy="6858000"/>
          </a:xfrm>
          <a:prstGeom prst="rect">
            <a:avLst/>
          </a:prstGeom>
          <a:solidFill>
            <a:srgbClr val="6366F1">
              <a:alpha val="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0"/>
            <a:ext cx="9144" cy="6858000"/>
          </a:xfrm>
          <a:prstGeom prst="rect">
            <a:avLst/>
          </a:prstGeom>
          <a:solidFill>
            <a:srgbClr val="6366F1">
              <a:alpha val="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0" y="0"/>
            <a:ext cx="9144" cy="6858000"/>
          </a:xfrm>
          <a:prstGeom prst="rect">
            <a:avLst/>
          </a:prstGeom>
          <a:solidFill>
            <a:srgbClr val="6366F1">
              <a:alpha val="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0" y="0"/>
            <a:ext cx="9144" cy="6858000"/>
          </a:xfrm>
          <a:prstGeom prst="rect">
            <a:avLst/>
          </a:prstGeom>
          <a:solidFill>
            <a:srgbClr val="6366F1">
              <a:alpha val="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144000" y="0"/>
            <a:ext cx="9144" cy="6858000"/>
          </a:xfrm>
          <a:prstGeom prst="rect">
            <a:avLst/>
          </a:prstGeom>
          <a:solidFill>
            <a:srgbClr val="6366F1">
              <a:alpha val="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058400" y="0"/>
            <a:ext cx="9144" cy="6858000"/>
          </a:xfrm>
          <a:prstGeom prst="rect">
            <a:avLst/>
          </a:prstGeom>
          <a:solidFill>
            <a:srgbClr val="6366F1">
              <a:alpha val="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972800" y="0"/>
            <a:ext cx="9144" cy="6858000"/>
          </a:xfrm>
          <a:prstGeom prst="rect">
            <a:avLst/>
          </a:prstGeom>
          <a:solidFill>
            <a:srgbClr val="6366F1">
              <a:alpha val="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887200" y="0"/>
            <a:ext cx="9144" cy="6858000"/>
          </a:xfrm>
          <a:prstGeom prst="rect">
            <a:avLst/>
          </a:prstGeom>
          <a:solidFill>
            <a:srgbClr val="6366F1">
              <a:alpha val="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0" y="3200400"/>
            <a:ext cx="5029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0" b="1">
                <a:solidFill>
                  <a:srgbClr val="6366F1">
                    <a:alpha val="8000"/>
                  </a:srgbClr>
                </a:solidFill>
                <a:latin typeface="Georgia"/>
              </a:rPr>
              <a:t>DDQN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20116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366F1"/>
                </a:solidFill>
                <a:latin typeface="Calibri"/>
              </a:rPr>
              <a:t>Báo cáo Nghiên cứu  ·  Khoa CNTT  ·  Đại học Tôn Đức Thắng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502920"/>
            <a:ext cx="8686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8FAFC"/>
                </a:solidFill>
                <a:latin typeface="Georgia"/>
              </a:rPr>
              <a:t>Tối ưu hóa Lựa chọn Toán tử trong ALNS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1188720"/>
            <a:ext cx="8686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6366F1"/>
                </a:solidFill>
                <a:latin typeface="Georgia"/>
              </a:rPr>
              <a:t>bằng Double DQN cho Bài toán VRPTW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1353312"/>
            <a:ext cx="502920" cy="6400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1508760"/>
            <a:ext cx="960120" cy="292608"/>
          </a:xfrm>
          <a:prstGeom prst="rect">
            <a:avLst/>
          </a:prstGeom>
          <a:noFill/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1517904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366F1"/>
                </a:solidFill>
                <a:latin typeface="Calibri"/>
              </a:rPr>
              <a:t>VRPTW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435607" y="1508760"/>
            <a:ext cx="841248" cy="292608"/>
          </a:xfrm>
          <a:prstGeom prst="rect">
            <a:avLst/>
          </a:prstGeom>
          <a:noFill/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527048" y="1517904"/>
            <a:ext cx="7498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366F1"/>
                </a:solidFill>
                <a:latin typeface="Calibri"/>
              </a:rPr>
              <a:t>ALNS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386584" y="1508760"/>
            <a:ext cx="1197864" cy="292608"/>
          </a:xfrm>
          <a:prstGeom prst="rect">
            <a:avLst/>
          </a:prstGeom>
          <a:noFill/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478024" y="1517904"/>
            <a:ext cx="11064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366F1"/>
                </a:solidFill>
                <a:latin typeface="Calibri"/>
              </a:rPr>
              <a:t>Deep RL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94176" y="1508760"/>
            <a:ext cx="841248" cy="292608"/>
          </a:xfrm>
          <a:prstGeom prst="rect">
            <a:avLst/>
          </a:prstGeom>
          <a:noFill/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85615" y="1517904"/>
            <a:ext cx="7498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366F1"/>
                </a:solidFill>
                <a:latin typeface="Calibri"/>
              </a:rPr>
              <a:t>DDQN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1508760"/>
            <a:ext cx="1911095" cy="292608"/>
          </a:xfrm>
          <a:prstGeom prst="rect">
            <a:avLst/>
          </a:prstGeom>
          <a:noFill/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36592" y="1517904"/>
            <a:ext cx="1819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Calibri"/>
              </a:rPr>
              <a:t>Gap% = −0.87%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19659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8FAFC"/>
                </a:solidFill>
                <a:latin typeface="Calibri"/>
              </a:rPr>
              <a:t>Huỳnh Nhật Huy  ·  Nguyễn Nhật Huy  ·  Nguyễn Thị Bảo Trân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2359152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Khoa Công nghệ Thông tin  ·  Trường Đại học Tôn Đức Thắng  ·  TP. HCM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2679192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366F1"/>
                </a:solidFill>
                <a:latin typeface="Calibri"/>
              </a:rPr>
              <a:t>GVHD: TS. Hồ Thị Linh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366F1"/>
                </a:solidFill>
                <a:latin typeface="Calibri"/>
              </a:rPr>
              <a:t>Slide 02  ·  Bối cảnh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8FAFC"/>
                </a:solidFill>
                <a:latin typeface="Georgia"/>
              </a:rPr>
              <a:t>Bài toán VRPTW là gì?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6187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Vehicle Routing Problem with Time Windows — Lớp NP-Hard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53312"/>
            <a:ext cx="502920" cy="6400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508760"/>
            <a:ext cx="5394960" cy="2331720"/>
          </a:xfrm>
          <a:prstGeom prst="rect">
            <a:avLst/>
          </a:prstGeom>
          <a:solidFill>
            <a:srgbClr val="1E29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57276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B82F6"/>
                </a:solidFill>
                <a:latin typeface="Calibri"/>
              </a:rPr>
              <a:t>MỤC TIÊU TỐI ƯU HÓA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92024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3B82F6"/>
                </a:solidFill>
                <a:latin typeface="Calibri"/>
              </a:rPr>
              <a:t>▸  </a:t>
            </a:r>
            <a:r>
              <a:rPr sz="1300">
                <a:solidFill>
                  <a:srgbClr val="F8FAFC"/>
                </a:solidFill>
                <a:latin typeface="Calibri"/>
              </a:rPr>
              <a:t>Tối thiểu hóa số phương tiện (ưu tiên 1)</a:t>
            </a:r>
          </a:p>
          <a:p>
            <a:pPr algn="l"/>
            <a:r>
              <a:rPr sz="1100">
                <a:solidFill>
                  <a:srgbClr val="3B82F6"/>
                </a:solidFill>
                <a:latin typeface="Calibri"/>
              </a:rPr>
              <a:t>▸  </a:t>
            </a:r>
            <a:r>
              <a:rPr sz="1300">
                <a:solidFill>
                  <a:srgbClr val="F8FAFC"/>
                </a:solidFill>
                <a:latin typeface="Calibri"/>
              </a:rPr>
              <a:t>Tối thiểu hóa tổng quãng đường (ưu tiên 2)</a:t>
            </a:r>
          </a:p>
          <a:p>
            <a:pPr algn="l"/>
            <a:r>
              <a:rPr sz="1100">
                <a:solidFill>
                  <a:srgbClr val="3B82F6"/>
                </a:solidFill>
                <a:latin typeface="Calibri"/>
              </a:rPr>
              <a:t>▸  </a:t>
            </a:r>
            <a:r>
              <a:rPr sz="1300">
                <a:solidFill>
                  <a:srgbClr val="F8FAFC"/>
                </a:solidFill>
                <a:latin typeface="Calibri"/>
              </a:rPr>
              <a:t>Ràng buộc cửa sổ thời gian [eᵢ, lᵢ]</a:t>
            </a:r>
          </a:p>
          <a:p>
            <a:pPr algn="l"/>
            <a:r>
              <a:rPr sz="1100">
                <a:solidFill>
                  <a:srgbClr val="3B82F6"/>
                </a:solidFill>
                <a:latin typeface="Calibri"/>
              </a:rPr>
              <a:t>▸  </a:t>
            </a:r>
            <a:r>
              <a:rPr sz="1300">
                <a:solidFill>
                  <a:srgbClr val="F8FAFC"/>
                </a:solidFill>
                <a:latin typeface="Calibri"/>
              </a:rPr>
              <a:t>Ràng buộc sức chứa Q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931920"/>
            <a:ext cx="5394960" cy="1554480"/>
          </a:xfrm>
          <a:prstGeom prst="rect">
            <a:avLst/>
          </a:prstGeom>
          <a:solidFill>
            <a:srgbClr val="1E293B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3995928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43F5E"/>
                </a:solidFill>
                <a:latin typeface="Calibri"/>
              </a:rPr>
              <a:t>ĐỘ KHÓ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343400"/>
            <a:ext cx="5120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F43F5E"/>
                </a:solidFill>
                <a:latin typeface="Calibri"/>
              </a:rPr>
              <a:t>▸  </a:t>
            </a:r>
            <a:r>
              <a:rPr sz="1300">
                <a:solidFill>
                  <a:srgbClr val="F43F5E"/>
                </a:solidFill>
                <a:latin typeface="Calibri"/>
              </a:rPr>
              <a:t>Lớp NP-Hard — không có giải pháp đa thức</a:t>
            </a:r>
          </a:p>
          <a:p>
            <a:pPr algn="l"/>
            <a:r>
              <a:rPr sz="1100">
                <a:solidFill>
                  <a:srgbClr val="F43F5E"/>
                </a:solidFill>
                <a:latin typeface="Calibri"/>
              </a:rPr>
              <a:t>▸  </a:t>
            </a:r>
            <a:r>
              <a:rPr sz="1300">
                <a:solidFill>
                  <a:srgbClr val="F43F5E"/>
                </a:solidFill>
                <a:latin typeface="Calibri"/>
              </a:rPr>
              <a:t>Không gian nghiệm tăng hàm mũ theo n</a:t>
            </a:r>
          </a:p>
          <a:p>
            <a:pPr algn="l"/>
            <a:r>
              <a:rPr sz="1100">
                <a:solidFill>
                  <a:srgbClr val="F43F5E"/>
                </a:solidFill>
                <a:latin typeface="Calibri"/>
              </a:rPr>
              <a:t>▸  </a:t>
            </a:r>
            <a:r>
              <a:rPr sz="1300">
                <a:solidFill>
                  <a:srgbClr val="F8FAFC"/>
                </a:solidFill>
                <a:latin typeface="Calibri"/>
              </a:rPr>
              <a:t>Solomon benchmark: 56 thực thể chuẩn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1508760"/>
            <a:ext cx="5669280" cy="3977639"/>
          </a:xfrm>
          <a:prstGeom prst="rect">
            <a:avLst/>
          </a:prstGeom>
          <a:solidFill>
            <a:srgbClr val="1E293B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157276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EA5E9"/>
                </a:solidFill>
                <a:latin typeface="Calibri"/>
              </a:rPr>
              <a:t>HÀM MỤC TIÊU &amp; RÀNG BUỘC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1920240"/>
            <a:ext cx="5349240" cy="3200400"/>
          </a:xfrm>
          <a:prstGeom prst="rect">
            <a:avLst/>
          </a:prstGeom>
          <a:solidFill>
            <a:srgbClr val="0A0F1E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1965960"/>
            <a:ext cx="5212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ourier New"/>
              </a:rPr>
              <a:t>Hàm mục tiêu Lexicographic:</a:t>
            </a:r>
          </a:p>
          <a:p>
            <a:pPr algn="l"/>
            <a:r>
              <a:rPr sz="1200" b="1">
                <a:solidFill>
                  <a:srgbClr val="0EA5E9"/>
                </a:solidFill>
                <a:latin typeface="Courier New"/>
              </a:rPr>
              <a:t>  min ( M·Σ x⁰ʲₖ + Σ cᵢⱼ·xᵢⱼᵏ )</a:t>
            </a:r>
          </a:p>
          <a:p>
            <a:pPr algn="l"/>
            <a:r>
              <a:rPr sz="1200" b="0">
                <a:solidFill>
                  <a:srgbClr val="94A3B8"/>
                </a:solidFill>
                <a:latin typeface="Courier New"/>
              </a:rPr>
              <a:t/>
            </a:r>
          </a:p>
          <a:p>
            <a:pPr algn="l"/>
            <a:r>
              <a:rPr sz="1200" b="0">
                <a:solidFill>
                  <a:srgbClr val="94A3B8"/>
                </a:solidFill>
                <a:latin typeface="Courier New"/>
              </a:rPr>
              <a:t>Ràng buộc thời gian (Big-M):</a:t>
            </a:r>
          </a:p>
          <a:p>
            <a:pPr algn="l"/>
            <a:r>
              <a:rPr sz="1200" b="1">
                <a:solidFill>
                  <a:srgbClr val="0EA5E9"/>
                </a:solidFill>
                <a:latin typeface="Courier New"/>
              </a:rPr>
              <a:t>  wᵢ + sᵢ + tᵢⱼ − M(1−xᵢⱼ) ≤ wⱼ</a:t>
            </a:r>
          </a:p>
          <a:p>
            <a:pPr algn="l"/>
            <a:r>
              <a:rPr sz="1200" b="1">
                <a:solidFill>
                  <a:srgbClr val="0EA5E9"/>
                </a:solidFill>
                <a:latin typeface="Courier New"/>
              </a:rPr>
              <a:t>  eᵢ ≤ wᵢ ≤ lᵢ</a:t>
            </a:r>
          </a:p>
          <a:p>
            <a:pPr algn="l"/>
            <a:r>
              <a:rPr sz="1200" b="0">
                <a:solidFill>
                  <a:srgbClr val="94A3B8"/>
                </a:solidFill>
                <a:latin typeface="Courier New"/>
              </a:rPr>
              <a:t/>
            </a:r>
          </a:p>
          <a:p>
            <a:pPr algn="l"/>
            <a:r>
              <a:rPr sz="1200" b="0">
                <a:solidFill>
                  <a:srgbClr val="94A3B8"/>
                </a:solidFill>
                <a:latin typeface="Courier New"/>
              </a:rPr>
              <a:t>M ≫ 1 đảm bảo tối thiểu xe được</a:t>
            </a:r>
          </a:p>
          <a:p>
            <a:pPr algn="l"/>
            <a:r>
              <a:rPr sz="1200" b="0">
                <a:solidFill>
                  <a:srgbClr val="94A3B8"/>
                </a:solidFill>
                <a:latin typeface="Courier New"/>
              </a:rPr>
              <a:t>ưu tiên tuyệt đối trước khoảng cách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366F1"/>
                </a:solidFill>
                <a:latin typeface="Calibri"/>
              </a:rPr>
              <a:t>Slide 03  ·  Vấn đề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8FAFC"/>
                </a:solidFill>
                <a:latin typeface="Georgia"/>
              </a:rPr>
              <a:t>ALNS Truyền thống — Nỗi Đau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6187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Tại sao Roulette-Wheel không đủ?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53312"/>
            <a:ext cx="502920" cy="6400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508760"/>
            <a:ext cx="11430000" cy="1097280"/>
          </a:xfrm>
          <a:prstGeom prst="rect">
            <a:avLst/>
          </a:prstGeom>
          <a:solidFill>
            <a:srgbClr val="1A050A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508760"/>
            <a:ext cx="73152" cy="109728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563624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43F5E"/>
                </a:solidFill>
                <a:latin typeface="Calibri"/>
              </a:rPr>
              <a:t>① Myopic — Thiếu trạng thái toàn cục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929384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8FAFC"/>
                </a:solidFill>
                <a:latin typeface="Calibri"/>
              </a:rPr>
              <a:t>Roulette-wheel chỉ nhìn phần thưởng tức thời trong segment, không nhận thức trạng thái dài hạn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743200"/>
            <a:ext cx="11430000" cy="1097280"/>
          </a:xfrm>
          <a:prstGeom prst="rect">
            <a:avLst/>
          </a:prstGeom>
          <a:solidFill>
            <a:srgbClr val="1A050A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2743200"/>
            <a:ext cx="73152" cy="109728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798064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43F5E"/>
                </a:solidFill>
                <a:latin typeface="Calibri"/>
              </a:rPr>
              <a:t>② Hội tụ sớm — Premature Convergence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163824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8FAFC"/>
                </a:solidFill>
                <a:latin typeface="Calibri"/>
              </a:rPr>
              <a:t>Kẹt tại plateau kéo dài, không có cơ chế thoát khi thuật toán rơi vào vùng trũng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977639"/>
            <a:ext cx="11430000" cy="1097280"/>
          </a:xfrm>
          <a:prstGeom prst="rect">
            <a:avLst/>
          </a:prstGeom>
          <a:solidFill>
            <a:srgbClr val="1A050A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3977639"/>
            <a:ext cx="73152" cy="109728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4032503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43F5E"/>
                </a:solidFill>
                <a:latin typeface="Calibri"/>
              </a:rPr>
              <a:t>③ SA cứng nhắc — Kẹt cực tiểu cục bộ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4398264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8FAFC"/>
                </a:solidFill>
                <a:latin typeface="Calibri"/>
              </a:rPr>
              <a:t>Simulated Annealing với nhiệt độ tĩnh không thích nghi với cảnh quan hàm phí khác nhau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5212080"/>
            <a:ext cx="11430000" cy="1097280"/>
          </a:xfrm>
          <a:prstGeom prst="rect">
            <a:avLst/>
          </a:prstGeom>
          <a:solidFill>
            <a:srgbClr val="1A050A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5212080"/>
            <a:ext cx="73152" cy="109728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5266944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43F5E"/>
                </a:solidFill>
                <a:latin typeface="Calibri"/>
              </a:rPr>
              <a:t>④ Phản hồi trễ — Mù Topology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5632704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8FAFC"/>
                </a:solidFill>
                <a:latin typeface="Calibri"/>
              </a:rPr>
              <a:t>Cập nhật trọng số theo segment, bỏ lỡ tín hiệu bối cảnh về cấu trúc đồ thị hiện tại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366F1"/>
                </a:solidFill>
                <a:latin typeface="Calibri"/>
              </a:rPr>
              <a:t>Slide 04  ·  Giải pháp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8FAFC"/>
                </a:solidFill>
                <a:latin typeface="Georgia"/>
              </a:rPr>
              <a:t>Hybrid DDQN-ALNS — Kiến trúc Kép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6187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Hierarchical MDP  ·  Temporally-Coupled  ·  Dual-Agent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53312"/>
            <a:ext cx="502920" cy="6400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508760"/>
            <a:ext cx="9601200" cy="1051560"/>
          </a:xfrm>
          <a:prstGeom prst="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508760"/>
            <a:ext cx="64008" cy="105156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572768"/>
            <a:ext cx="8686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366F1"/>
                </a:solidFill>
                <a:latin typeface="Calibri"/>
              </a:rPr>
              <a:t>🧠  Plateau Controller (Macro DDQN)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98424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Trạng thái: 12D  ·  6 Mode  ·  Kích hoạt khi no_imp ≥ 60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149840" y="1737360"/>
            <a:ext cx="1463040" cy="384048"/>
          </a:xfrm>
          <a:prstGeom prst="rect">
            <a:avLst/>
          </a:prstGeom>
          <a:noFill/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195560" y="1746504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6366F1"/>
                </a:solidFill>
                <a:latin typeface="Calibri"/>
              </a:rPr>
              <a:t>Vĩ mô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25603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366F1"/>
                </a:solidFill>
                <a:latin typeface="Calibri"/>
              </a:rPr>
              <a:t>↓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743200"/>
            <a:ext cx="9601200" cy="1051560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2743200"/>
            <a:ext cx="64008" cy="10515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2807208"/>
            <a:ext cx="8686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  <a:latin typeface="Calibri"/>
              </a:rPr>
              <a:t>⚙️  Operator Controller (Micro DDQN + UCB + Thompson)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321868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Trạng thái: 15D  ·  8×5 = 40 hành động  ·  Kích hoạt mỗi vòng lặp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149840" y="2971800"/>
            <a:ext cx="1463040" cy="384048"/>
          </a:xfrm>
          <a:prstGeom prst="rect">
            <a:avLst/>
          </a:prstGeom>
          <a:noFill/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195560" y="2980944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0B981"/>
                </a:solidFill>
                <a:latin typeface="Calibri"/>
              </a:rPr>
              <a:t>Vi mô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0" y="37947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366F1"/>
                </a:solidFill>
                <a:latin typeface="Calibri"/>
              </a:rPr>
              <a:t>↓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977639"/>
            <a:ext cx="9601200" cy="1051560"/>
          </a:xfrm>
          <a:prstGeom prst="rect">
            <a:avLst/>
          </a:prstGeom>
          <a:solidFill>
            <a:srgbClr val="1E293B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3977639"/>
            <a:ext cx="64008" cy="10515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4041648"/>
            <a:ext cx="8686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EA5E9"/>
                </a:solidFill>
                <a:latin typeface="Calibri"/>
              </a:rPr>
              <a:t>🔄  ALNS Core Engine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4453127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8 Destroy ops  ·  5 Repair ops  ·  Thực thi phá hủy &amp; tái tạo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149840" y="4206240"/>
            <a:ext cx="1463040" cy="384048"/>
          </a:xfrm>
          <a:prstGeom prst="rect">
            <a:avLst/>
          </a:prstGeom>
          <a:noFill/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195560" y="4215383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EA5E9"/>
                </a:solidFill>
                <a:latin typeface="Calibri"/>
              </a:rPr>
              <a:t>Môi trường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5212080"/>
            <a:ext cx="5394960" cy="1261872"/>
          </a:xfrm>
          <a:prstGeom prst="rect">
            <a:avLst/>
          </a:prstGeom>
          <a:solidFill>
            <a:srgbClr val="1A1505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5266944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  <a:latin typeface="Calibri"/>
              </a:rPr>
              <a:t>🎓  Learned Acceptance Criterion (LAC)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5632704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MLP 9→48→24→1  ·  Hindsight labeling  ·  Thay SA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5212080"/>
            <a:ext cx="5394960" cy="1261872"/>
          </a:xfrm>
          <a:prstGeom prst="rect">
            <a:avLst/>
          </a:prstGeom>
          <a:solidFill>
            <a:srgbClr val="04121A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37960" y="5266944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EA5E9"/>
                </a:solidFill>
                <a:latin typeface="Calibri"/>
              </a:rPr>
              <a:t>📊  Welford Reward Normalizer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37960" y="5632704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Z-score  ·  clip(±8σ)  ·  Online tracking  ·  Chống gradient explosion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366F1"/>
                </a:solidFill>
                <a:latin typeface="Calibri"/>
              </a:rPr>
              <a:t>Slide 05  ·  Vi mô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8FAFC"/>
                </a:solidFill>
                <a:latin typeface="Georgia"/>
              </a:rPr>
              <a:t>Operator Controller — Neuro-Symbolic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6187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DDQN + Heuristic Prior + Thompson Bandit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53312"/>
            <a:ext cx="502920" cy="6400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508760"/>
            <a:ext cx="5669280" cy="4937760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57276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Calibri"/>
              </a:rPr>
              <a:t>CÔNG THỨC LỰA CHỌN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920240"/>
            <a:ext cx="5394960" cy="4297680"/>
          </a:xfrm>
          <a:prstGeom prst="rect">
            <a:avLst/>
          </a:prstGeom>
          <a:solidFill>
            <a:srgbClr val="0A0F1E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965960"/>
            <a:ext cx="5257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EA5E9"/>
                </a:solidFill>
                <a:latin typeface="Courier New"/>
              </a:rPr>
              <a:t>a* = argmax [</a:t>
            </a:r>
          </a:p>
          <a:p>
            <a:pPr algn="l"/>
            <a:r>
              <a:rPr sz="1200" b="0">
                <a:solidFill>
                  <a:srgbClr val="0EA5E9"/>
                </a:solidFill>
                <a:latin typeface="Courier New"/>
              </a:rPr>
              <a:t>   Q(sᵒ, a; θ)     ← DDQN</a:t>
            </a:r>
          </a:p>
          <a:p>
            <a:pPr algn="l"/>
            <a:r>
              <a:rPr sz="1200" b="0">
                <a:solidFill>
                  <a:srgbClr val="0EA5E9"/>
                </a:solidFill>
                <a:latin typeface="Courier New"/>
              </a:rPr>
              <a:t>   + η_p · ln p_a  ← Heuristic Prior</a:t>
            </a:r>
          </a:p>
          <a:p>
            <a:pPr algn="l"/>
            <a:r>
              <a:rPr sz="1200" b="0">
                <a:solidFill>
                  <a:srgbClr val="0EA5E9"/>
                </a:solidFill>
                <a:latin typeface="Courier New"/>
              </a:rPr>
              <a:t>   + η_b · μ̄_a    ← Thompson Bandit</a:t>
            </a:r>
          </a:p>
          <a:p>
            <a:pPr algn="l"/>
            <a:r>
              <a:rPr sz="1200" b="0">
                <a:solidFill>
                  <a:srgbClr val="0EA5E9"/>
                </a:solidFill>
                <a:latin typeface="Courier New"/>
              </a:rPr>
              <a:t>]</a:t>
            </a:r>
          </a:p>
          <a:p>
            <a:pPr algn="l"/>
            <a:r>
              <a:rPr sz="1200" b="0">
                <a:solidFill>
                  <a:srgbClr val="0EA5E9"/>
                </a:solidFill>
                <a:latin typeface="Courier New"/>
              </a:rPr>
              <a:t/>
            </a:r>
          </a:p>
          <a:p>
            <a:pPr algn="l"/>
            <a:r>
              <a:rPr sz="1200" b="1">
                <a:solidFill>
                  <a:srgbClr val="0EA5E9"/>
                </a:solidFill>
                <a:latin typeface="Courier New"/>
              </a:rPr>
              <a:t>Q_aug = Q(s,a;θ) + c·√(ln N / (nₐ+1))</a:t>
            </a:r>
          </a:p>
          <a:p>
            <a:pPr algn="l"/>
            <a:r>
              <a:rPr sz="1200" b="0">
                <a:solidFill>
                  <a:srgbClr val="0EA5E9"/>
                </a:solidFill>
                <a:latin typeface="Courier New"/>
              </a:rPr>
              <a:t>                  ← UCB Exploration</a:t>
            </a:r>
          </a:p>
          <a:p>
            <a:pPr algn="l"/>
            <a:r>
              <a:rPr sz="1200" b="0">
                <a:solidFill>
                  <a:srgbClr val="0EA5E9"/>
                </a:solidFill>
                <a:latin typeface="Courier New"/>
              </a:rPr>
              <a:t/>
            </a:r>
          </a:p>
          <a:p>
            <a:pPr algn="l"/>
            <a:r>
              <a:rPr sz="1200" b="1">
                <a:solidFill>
                  <a:srgbClr val="0EA5E9"/>
                </a:solidFill>
                <a:latin typeface="Courier New"/>
              </a:rPr>
              <a:t>Q(s,a;θ) = V(s;θᵥ) + (A(s,a;θₐ) − mean(A))</a:t>
            </a:r>
          </a:p>
          <a:p>
            <a:pPr algn="l"/>
            <a:r>
              <a:rPr sz="1200" b="0">
                <a:solidFill>
                  <a:srgbClr val="0EA5E9"/>
                </a:solidFill>
                <a:latin typeface="Courier New"/>
              </a:rPr>
              <a:t>           ← Dueling Architecture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508760"/>
            <a:ext cx="5394960" cy="2743200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57276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Calibri"/>
              </a:rPr>
              <a:t>VECTOR TRẠNG THÁI sᵒ ∈ ℝ¹⁵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1920240"/>
            <a:ext cx="521208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0B981"/>
                </a:solidFill>
                <a:latin typeface="Calibri"/>
              </a:rPr>
              <a:t>▸  </a:t>
            </a:r>
            <a:r>
              <a:rPr sz="1200">
                <a:solidFill>
                  <a:srgbClr val="10B981"/>
                </a:solidFill>
                <a:latin typeface="Calibri"/>
              </a:rPr>
              <a:t>Tỷ lệ cải thiện vs BKS (Gap%)</a:t>
            </a:r>
          </a:p>
          <a:p>
            <a:pPr algn="l"/>
            <a:r>
              <a:rPr sz="1000">
                <a:solidFill>
                  <a:srgbClr val="10B981"/>
                </a:solidFill>
                <a:latin typeface="Calibri"/>
              </a:rPr>
              <a:t>▸  </a:t>
            </a:r>
            <a:r>
              <a:rPr sz="1200">
                <a:solidFill>
                  <a:srgbClr val="10B981"/>
                </a:solidFill>
                <a:latin typeface="Calibri"/>
              </a:rPr>
              <a:t>NV / NV_init (tỷ lệ xe)</a:t>
            </a:r>
          </a:p>
          <a:p>
            <a:pPr algn="l"/>
            <a:r>
              <a:rPr sz="1000">
                <a:solidFill>
                  <a:srgbClr val="10B981"/>
                </a:solidFill>
                <a:latin typeface="Calibri"/>
              </a:rPr>
              <a:t>▸  </a:t>
            </a:r>
            <a:r>
              <a:rPr sz="1200">
                <a:solidFill>
                  <a:srgbClr val="10B981"/>
                </a:solidFill>
                <a:latin typeface="Calibri"/>
              </a:rPr>
              <a:t>Mức tải phương tiện trung bình</a:t>
            </a:r>
          </a:p>
          <a:p>
            <a:pPr algn="l"/>
            <a:r>
              <a:rPr sz="1000">
                <a:solidFill>
                  <a:srgbClr val="10B981"/>
                </a:solidFill>
                <a:latin typeface="Calibri"/>
              </a:rPr>
              <a:t>▸  </a:t>
            </a:r>
            <a:r>
              <a:rPr sz="1200">
                <a:solidFill>
                  <a:srgbClr val="10B981"/>
                </a:solidFill>
                <a:latin typeface="Calibri"/>
              </a:rPr>
              <a:t>Slack trung bình cửa sổ TW</a:t>
            </a:r>
          </a:p>
          <a:p>
            <a:pPr algn="l"/>
            <a:r>
              <a:rPr sz="1000">
                <a:solidFill>
                  <a:srgbClr val="10B981"/>
                </a:solidFill>
                <a:latin typeface="Calibri"/>
              </a:rPr>
              <a:t>▸  </a:t>
            </a:r>
            <a:r>
              <a:rPr sz="1200">
                <a:solidFill>
                  <a:srgbClr val="10B981"/>
                </a:solidFill>
                <a:latin typeface="Calibri"/>
              </a:rPr>
              <a:t>Tỷ lệ bước không cải thiện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4343400"/>
            <a:ext cx="5394960" cy="2103120"/>
          </a:xfrm>
          <a:prstGeom prst="rect">
            <a:avLst/>
          </a:prstGeom>
          <a:solidFill>
            <a:srgbClr val="1E293B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440740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B5CF6"/>
                </a:solidFill>
                <a:latin typeface="Calibri"/>
              </a:rPr>
              <a:t>PRIORITIZED EXPERIENCE REPLAY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37960" y="4754880"/>
            <a:ext cx="5120640" cy="640080"/>
          </a:xfrm>
          <a:prstGeom prst="rect">
            <a:avLst/>
          </a:prstGeom>
          <a:solidFill>
            <a:srgbClr val="0A0F1E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29400" y="480060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EA5E9"/>
                </a:solidFill>
                <a:latin typeface="Courier New"/>
              </a:rPr>
              <a:t>P(i) = (|δᵢ| + ε)^α / Σ(|δⱼ| + ε)^α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54406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Ưu tiên học từ các bước có TD-error lớn nhất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366F1"/>
                </a:solidFill>
                <a:latin typeface="Calibri"/>
              </a:rPr>
              <a:t>Slide 06  ·  Vũ khí bí mật #1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8FAFC"/>
                </a:solidFill>
                <a:latin typeface="Georgia"/>
              </a:rPr>
              <a:t>Welford Reward Normalizer — Chống Nổ Gradient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6187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Ổn định học trong Domain Randomization Curriculum (20 → 100 nút)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53312"/>
            <a:ext cx="502920" cy="6400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508760"/>
            <a:ext cx="5394960" cy="2011680"/>
          </a:xfrm>
          <a:prstGeom prst="rect">
            <a:avLst/>
          </a:prstGeom>
          <a:solidFill>
            <a:srgbClr val="1E293B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57276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43F5E"/>
                </a:solidFill>
                <a:latin typeface="Calibri"/>
              </a:rPr>
              <a:t>VẤN ĐỀ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920240"/>
            <a:ext cx="52120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F43F5E"/>
                </a:solidFill>
                <a:latin typeface="Calibri"/>
              </a:rPr>
              <a:t>▸  </a:t>
            </a:r>
            <a:r>
              <a:rPr sz="1300">
                <a:solidFill>
                  <a:srgbClr val="F43F5E"/>
                </a:solidFill>
                <a:latin typeface="Calibri"/>
              </a:rPr>
              <a:t>Phần thưởng biến động 10× khi đồ thị 20→100 nút</a:t>
            </a:r>
          </a:p>
          <a:p>
            <a:pPr algn="l"/>
            <a:r>
              <a:rPr sz="1100">
                <a:solidFill>
                  <a:srgbClr val="F43F5E"/>
                </a:solidFill>
                <a:latin typeface="Calibri"/>
              </a:rPr>
              <a:t>▸  </a:t>
            </a:r>
            <a:r>
              <a:rPr sz="1300">
                <a:solidFill>
                  <a:srgbClr val="F43F5E"/>
                </a:solidFill>
                <a:latin typeface="Calibri"/>
              </a:rPr>
              <a:t>Loss tăng 10³× sau vài iteration khi scale up</a:t>
            </a:r>
          </a:p>
          <a:p>
            <a:pPr algn="l"/>
            <a:r>
              <a:rPr sz="1100">
                <a:solidFill>
                  <a:srgbClr val="F43F5E"/>
                </a:solidFill>
                <a:latin typeface="Calibri"/>
              </a:rPr>
              <a:t>▸  </a:t>
            </a:r>
            <a:r>
              <a:rPr sz="1300">
                <a:solidFill>
                  <a:srgbClr val="F43F5E"/>
                </a:solidFill>
                <a:latin typeface="Calibri"/>
              </a:rPr>
              <a:t>Gradient explode — học mất ổn định hoàn toàn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611880"/>
            <a:ext cx="5394960" cy="2103120"/>
          </a:xfrm>
          <a:prstGeom prst="rect">
            <a:avLst/>
          </a:prstGeom>
          <a:solidFill>
            <a:srgbClr val="1E293B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3675887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EA5E9"/>
                </a:solidFill>
                <a:latin typeface="Calibri"/>
              </a:rPr>
              <a:t>GIẢI PHÁP — WELFORD ONLINE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4041648"/>
            <a:ext cx="5120640" cy="640080"/>
          </a:xfrm>
          <a:prstGeom prst="rect">
            <a:avLst/>
          </a:prstGeom>
          <a:solidFill>
            <a:srgbClr val="0A0F1E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4087368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EA5E9"/>
                </a:solidFill>
                <a:latin typeface="Courier New"/>
              </a:rPr>
              <a:t>zₜ = clip( (rₜ − μ̂ₜ) / (σ̂ₜ + ε), −8σ, +8σ 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709160"/>
            <a:ext cx="52120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0EA5E9"/>
                </a:solidFill>
                <a:latin typeface="Calibri"/>
              </a:rPr>
              <a:t>▸  </a:t>
            </a:r>
            <a:r>
              <a:rPr sz="1200">
                <a:solidFill>
                  <a:srgbClr val="F8FAFC"/>
                </a:solidFill>
                <a:latin typeface="Calibri"/>
              </a:rPr>
              <a:t>Theo dõi μ, σ² trực tuyến (không cần buffer)</a:t>
            </a:r>
          </a:p>
          <a:p>
            <a:pPr algn="l"/>
            <a:r>
              <a:rPr sz="1000">
                <a:solidFill>
                  <a:srgbClr val="0EA5E9"/>
                </a:solidFill>
                <a:latin typeface="Calibri"/>
              </a:rPr>
              <a:t>▸  </a:t>
            </a:r>
            <a:r>
              <a:rPr sz="1200">
                <a:solidFill>
                  <a:srgbClr val="F8FAFC"/>
                </a:solidFill>
                <a:latin typeface="Calibri"/>
              </a:rPr>
              <a:t>Warmup 128 bước để thu thống kê ban đầu</a:t>
            </a:r>
          </a:p>
          <a:p>
            <a:pPr algn="l"/>
            <a:r>
              <a:rPr sz="1000">
                <a:solidFill>
                  <a:srgbClr val="0EA5E9"/>
                </a:solidFill>
                <a:latin typeface="Calibri"/>
              </a:rPr>
              <a:t>▸  </a:t>
            </a:r>
            <a:r>
              <a:rPr sz="1200">
                <a:solidFill>
                  <a:srgbClr val="F8FAFC"/>
                </a:solidFill>
                <a:latin typeface="Calibri"/>
              </a:rPr>
              <a:t>Chia sẻ thống kê xuyên 3 giai đoạn curriculum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1508760"/>
            <a:ext cx="5669280" cy="2880360"/>
          </a:xfrm>
          <a:prstGeom prst="rect">
            <a:avLst/>
          </a:prstGeom>
          <a:solidFill>
            <a:srgbClr val="1E293B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157276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EA5E9"/>
                </a:solidFill>
                <a:latin typeface="Calibri"/>
              </a:rPr>
              <a:t>3 GIAI ĐOẠN CURRICULUM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1920240"/>
            <a:ext cx="5394960" cy="658368"/>
          </a:xfrm>
          <a:prstGeom prst="rect">
            <a:avLst/>
          </a:prstGeom>
          <a:noFill/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1975104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366F1"/>
                </a:solidFill>
                <a:latin typeface="Calibri"/>
              </a:rPr>
              <a:t>Easy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0" y="1975104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  <a:latin typeface="Calibri"/>
              </a:rPr>
              <a:t>N ∈ [20, 40]  ·  Clustered/Random/Mixed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63640" y="2715768"/>
            <a:ext cx="5394960" cy="658368"/>
          </a:xfrm>
          <a:prstGeom prst="rect">
            <a:avLst/>
          </a:prstGeom>
          <a:noFill/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2770632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  <a:latin typeface="Calibri"/>
              </a:rPr>
              <a:t>Target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0" y="2770632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  <a:latin typeface="Calibri"/>
              </a:rPr>
              <a:t>N ∈ [40, 80]  ·  Độ phức tạp Solomon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63640" y="3511296"/>
            <a:ext cx="5394960" cy="658368"/>
          </a:xfrm>
          <a:prstGeom prst="rect">
            <a:avLst/>
          </a:prstGeom>
          <a:noFill/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356616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  <a:latin typeface="Calibri"/>
              </a:rPr>
              <a:t>Chaos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0" y="3566160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  <a:latin typeface="Calibri"/>
              </a:rPr>
              <a:t>N ∈ [20, 100]  ·  Tải &amp; TW bất quy tắc → tổng quát hóa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26480" y="4480560"/>
            <a:ext cx="5669280" cy="1993392"/>
          </a:xfrm>
          <a:prstGeom prst="rect">
            <a:avLst/>
          </a:prstGeom>
          <a:solidFill>
            <a:srgbClr val="041008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63640" y="454456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Calibri"/>
              </a:rPr>
              <a:t>✓  ĐÓNG GÓP ĐỘC LẬP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63640" y="4910328"/>
            <a:ext cx="5440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8FAFC"/>
                </a:solidFill>
                <a:latin typeface="Calibri"/>
              </a:rPr>
              <a:t>Welford Normalizer có thể áp dụng cho BẤT KỲ bài toán RL nào với phần thưởng không ổn định — không cần thay đổi kiến trúc mạng hay siêu tham số khác.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366F1"/>
                </a:solidFill>
                <a:latin typeface="Calibri"/>
              </a:rPr>
              <a:t>Slide 07  ·  Vũ khí bí mật #2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8FAFC"/>
                </a:solidFill>
                <a:latin typeface="Georgia"/>
              </a:rPr>
              <a:t>Learned Acceptance Criterion — Học Hồi cứu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6187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Thay thế Simulated Annealing bằng bộ phân loại thông minh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53312"/>
            <a:ext cx="502920" cy="6400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508760"/>
            <a:ext cx="5394960" cy="2103120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57276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Calibri"/>
              </a:rPr>
              <a:t>KIẾN TRÚC LAC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938528"/>
            <a:ext cx="5120640" cy="530352"/>
          </a:xfrm>
          <a:prstGeom prst="rect">
            <a:avLst/>
          </a:prstGeom>
          <a:solidFill>
            <a:srgbClr val="0A0F1E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984248"/>
            <a:ext cx="4937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9E0B"/>
                </a:solidFill>
                <a:latin typeface="Courier New"/>
              </a:rPr>
              <a:t>MLP: 9 → 48 → 24 → 1  (Sigmoid)  →  P(accept) ∈ [0,1]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542032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EA5E9"/>
                </a:solidFill>
                <a:latin typeface="Courier New"/>
              </a:rPr>
              <a:t>v = [Δc/c̄, T/T₀, n_no-imp/P, Δnv, π, f_tw, f_load, s̄, p_metro]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703320"/>
            <a:ext cx="5394960" cy="1828800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76732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Calibri"/>
              </a:rPr>
              <a:t>HINDSIGHT TRAJECTORY LABELING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4133087"/>
            <a:ext cx="5120640" cy="594360"/>
          </a:xfrm>
          <a:prstGeom prst="rect">
            <a:avLst/>
          </a:prstGeom>
          <a:solidFill>
            <a:srgbClr val="0A0F1E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4178808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9E0B"/>
                </a:solidFill>
                <a:latin typeface="Courier New"/>
              </a:rPr>
              <a:t>yₜ = 𝟙[ c_best(t+80) &lt; c_best(t) − ε 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773168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Nhãn được xác định hồi cứu sau H = 80 bước nhìn về tương lai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1508760"/>
            <a:ext cx="5669280" cy="3154680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3640" y="157276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Calibri"/>
              </a:rPr>
              <a:t>SA  vs  LAC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1920240"/>
            <a:ext cx="2560320" cy="2606040"/>
          </a:xfrm>
          <a:prstGeom prst="rect">
            <a:avLst/>
          </a:prstGeom>
          <a:solidFill>
            <a:srgbClr val="1A0505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1975104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43F5E"/>
                </a:solidFill>
                <a:latin typeface="Calibri"/>
              </a:rPr>
              <a:t>SA (Cũ)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2322576"/>
            <a:ext cx="242316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F43F5E"/>
                </a:solidFill>
                <a:latin typeface="Calibri"/>
              </a:rPr>
              <a:t>▸  </a:t>
            </a:r>
            <a:r>
              <a:rPr sz="1100">
                <a:solidFill>
                  <a:srgbClr val="F43F5E"/>
                </a:solidFill>
                <a:latin typeface="Calibri"/>
              </a:rPr>
              <a:t>Tham số nhiệt độ tĩnh</a:t>
            </a:r>
          </a:p>
          <a:p>
            <a:pPr algn="l"/>
            <a:r>
              <a:rPr sz="900">
                <a:solidFill>
                  <a:srgbClr val="F43F5E"/>
                </a:solidFill>
                <a:latin typeface="Calibri"/>
              </a:rPr>
              <a:t>▸  </a:t>
            </a:r>
            <a:r>
              <a:rPr sz="1100">
                <a:solidFill>
                  <a:srgbClr val="F43F5E"/>
                </a:solidFill>
                <a:latin typeface="Calibri"/>
              </a:rPr>
              <a:t>Không phân biệt bước lùi chiến lược vs vô nghĩa</a:t>
            </a:r>
          </a:p>
          <a:p>
            <a:pPr algn="l"/>
            <a:r>
              <a:rPr sz="900">
                <a:solidFill>
                  <a:srgbClr val="F43F5E"/>
                </a:solidFill>
                <a:latin typeface="Calibri"/>
              </a:rPr>
              <a:t>▸  </a:t>
            </a:r>
            <a:r>
              <a:rPr sz="1100">
                <a:solidFill>
                  <a:srgbClr val="F43F5E"/>
                </a:solidFill>
                <a:latin typeface="Calibri"/>
              </a:rPr>
              <a:t>Dễ kẹt local optimum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15400" y="1920240"/>
            <a:ext cx="2651760" cy="2606040"/>
          </a:xfrm>
          <a:prstGeom prst="rect">
            <a:avLst/>
          </a:prstGeom>
          <a:solidFill>
            <a:srgbClr val="041007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06840" y="1975104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Calibri"/>
              </a:rPr>
              <a:t>LAC (Mới)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06840" y="2322576"/>
            <a:ext cx="251460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10B981"/>
                </a:solidFill>
                <a:latin typeface="Calibri"/>
              </a:rPr>
              <a:t>▸  </a:t>
            </a:r>
            <a:r>
              <a:rPr sz="1100">
                <a:solidFill>
                  <a:srgbClr val="10B981"/>
                </a:solidFill>
                <a:latin typeface="Calibri"/>
              </a:rPr>
              <a:t>Học từ quỹ đạo thực</a:t>
            </a:r>
          </a:p>
          <a:p>
            <a:pPr algn="l"/>
            <a:r>
              <a:rPr sz="900">
                <a:solidFill>
                  <a:srgbClr val="10B981"/>
                </a:solidFill>
                <a:latin typeface="Calibri"/>
              </a:rPr>
              <a:t>▸  </a:t>
            </a:r>
            <a:r>
              <a:rPr sz="1100">
                <a:solidFill>
                  <a:srgbClr val="10B981"/>
                </a:solidFill>
                <a:latin typeface="Calibri"/>
              </a:rPr>
              <a:t>Phân biệt bước lùi có lợi chiến lược</a:t>
            </a:r>
          </a:p>
          <a:p>
            <a:pPr algn="l"/>
            <a:r>
              <a:rPr sz="900">
                <a:solidFill>
                  <a:srgbClr val="10B981"/>
                </a:solidFill>
                <a:latin typeface="Calibri"/>
              </a:rPr>
              <a:t>▸  </a:t>
            </a:r>
            <a:r>
              <a:rPr sz="1100">
                <a:solidFill>
                  <a:srgbClr val="10B981"/>
                </a:solidFill>
                <a:latin typeface="Calibri"/>
              </a:rPr>
              <a:t>Thích nghi với từng cảnh quan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26480" y="4754880"/>
            <a:ext cx="5669280" cy="1709928"/>
          </a:xfrm>
          <a:prstGeom prst="rect">
            <a:avLst/>
          </a:prstGeom>
          <a:solidFill>
            <a:srgbClr val="07081A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63640" y="481888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366F1"/>
                </a:solidFill>
                <a:latin typeface="Calibri"/>
              </a:rPr>
              <a:t>Ưu điểm cốt lõi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5175504"/>
            <a:ext cx="5440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8FAFC"/>
                </a:solidFill>
                <a:latin typeface="Calibri"/>
              </a:rPr>
              <a:t>LAC học trực tiếp từ dữ liệu tìm kiếm thực tế, không phụ thuộc vào schedule nhiệt độ — thích nghi với từng cảnh quan hàm phí cụ thể.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366F1"/>
                </a:solidFill>
                <a:latin typeface="Calibri"/>
              </a:rPr>
              <a:t>Slide 08  ·  Huấn luyện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8FAFC"/>
                </a:solidFill>
                <a:latin typeface="Georgia"/>
              </a:rPr>
              <a:t>Domain Randomization Curriculum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6187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Huấn luyện hoàn toàn cô lập với Solomon  ·  Transfer Zero-Shot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53312"/>
            <a:ext cx="502920" cy="6400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508760"/>
            <a:ext cx="2743200" cy="4114800"/>
          </a:xfrm>
          <a:prstGeom prst="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508760"/>
            <a:ext cx="2743200" cy="6400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57276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366F1"/>
                </a:solidFill>
                <a:latin typeface="Calibri"/>
              </a:rPr>
              <a:t>Giai đoạn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92024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6366F1"/>
                </a:solidFill>
                <a:latin typeface="Georgia"/>
              </a:rPr>
              <a:t>EASY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54203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8FAFC"/>
                </a:solidFill>
                <a:latin typeface="Calibri"/>
              </a:rPr>
              <a:t>N ∈ [20, 40]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92608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Clustered/Random/Mixed
Kỹ năng định tuyến cơ bản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3291840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6366F1"/>
                </a:solidFill>
                <a:latin typeface="Calibri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73552" y="1508760"/>
            <a:ext cx="2743200" cy="4114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73552" y="1508760"/>
            <a:ext cx="2743200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64992" y="157276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Calibri"/>
              </a:rPr>
              <a:t>Giai đoạn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64992" y="192024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0B981"/>
                </a:solidFill>
                <a:latin typeface="Georgia"/>
              </a:rPr>
              <a:t>TARGET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64992" y="254203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8FAFC"/>
                </a:solidFill>
                <a:latin typeface="Calibri"/>
              </a:rPr>
              <a:t>N ∈ [40, 80]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10712" y="292608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Độ khó tương đương Solomon
Đúng quy mô đánh giá thực tế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16752" y="3291840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6366F1"/>
                </a:solidFill>
                <a:latin typeface="Calibri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81344" y="1508760"/>
            <a:ext cx="2743200" cy="4114800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81344" y="1508760"/>
            <a:ext cx="2743200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72784" y="157276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Calibri"/>
              </a:rPr>
              <a:t>Giai đoạn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72784" y="192024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59E0B"/>
                </a:solidFill>
                <a:latin typeface="Georgia"/>
              </a:rPr>
              <a:t>CHAOS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72784" y="254203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8FAFC"/>
                </a:solidFill>
                <a:latin typeface="Calibri"/>
              </a:rPr>
              <a:t>N ∈ [20, 100]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18504" y="292608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Tải + TW bất quy tắc
Buộc tổng quát hóa edge cases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24544" y="3291840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6366F1"/>
                </a:solidFill>
                <a:latin typeface="Calibri"/>
              </a:rPr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089136" y="1508760"/>
            <a:ext cx="2743200" cy="4114800"/>
          </a:xfrm>
          <a:prstGeom prst="rect">
            <a:avLst/>
          </a:prstGeom>
          <a:solidFill>
            <a:srgbClr val="1E293B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89136" y="1508760"/>
            <a:ext cx="2743200" cy="6400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80576" y="157276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2D3EE"/>
                </a:solidFill>
                <a:latin typeface="Calibri"/>
              </a:rPr>
              <a:t>Transfer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80576" y="192024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2D3EE"/>
                </a:solidFill>
                <a:latin typeface="Georgia"/>
              </a:rPr>
              <a:t>ZERO-SHOT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80576" y="254203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8FAFC"/>
                </a:solidFill>
                <a:latin typeface="Calibri"/>
              </a:rPr>
              <a:t>Solomon Chuẩn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26296" y="292608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Không fine-tuning
Transfer Tax chỉ +1.27%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5760720"/>
            <a:ext cx="2743200" cy="804672"/>
          </a:xfrm>
          <a:prstGeom prst="rect">
            <a:avLst/>
          </a:prstGeom>
          <a:solidFill>
            <a:srgbClr val="334155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760" y="5788152"/>
            <a:ext cx="2743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6366F1"/>
                </a:solidFill>
                <a:latin typeface="Georgia"/>
              </a:rPr>
              <a:t>20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19963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Epochs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73552" y="5760720"/>
            <a:ext cx="2743200" cy="804672"/>
          </a:xfrm>
          <a:prstGeom prst="rect">
            <a:avLst/>
          </a:prstGeom>
          <a:solidFill>
            <a:srgbClr val="334155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273552" y="5788152"/>
            <a:ext cx="2743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6366F1"/>
                </a:solidFill>
                <a:latin typeface="Georgia"/>
              </a:rPr>
              <a:t>15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73552" y="619963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Đồ thị/Epoch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81344" y="5760720"/>
            <a:ext cx="2743200" cy="804672"/>
          </a:xfrm>
          <a:prstGeom prst="rect">
            <a:avLst/>
          </a:prstGeom>
          <a:solidFill>
            <a:srgbClr val="334155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81344" y="5788152"/>
            <a:ext cx="2743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6366F1"/>
                </a:solidFill>
                <a:latin typeface="Georgia"/>
              </a:rPr>
              <a:t>128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81344" y="619963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Warmup steps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089136" y="5760720"/>
            <a:ext cx="2743200" cy="804672"/>
          </a:xfrm>
          <a:prstGeom prst="rect">
            <a:avLst/>
          </a:prstGeom>
          <a:solidFill>
            <a:srgbClr val="334155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089136" y="5788152"/>
            <a:ext cx="2743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6366F1"/>
                </a:solidFill>
                <a:latin typeface="Georgia"/>
              </a:rPr>
              <a:t>56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89136" y="619963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Thực thể Solomon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41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366F1"/>
                </a:solidFill>
                <a:latin typeface="Calibri"/>
              </a:rPr>
              <a:t>Slide 09  ·  Kết quả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8FAFC"/>
                </a:solidFill>
                <a:latin typeface="Georgia"/>
              </a:rPr>
              <a:t>Gap% so với Best Known Solutions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6187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Số âm = Vượt BKS  ·  Solomon 56 thực thể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53312"/>
            <a:ext cx="502920" cy="6400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365760" y="1463040"/>
          <a:ext cx="713232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365760" y="3794760"/>
            <a:ext cx="7132320" cy="36576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35240" y="3730752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43F5E"/>
                </a:solidFill>
                <a:latin typeface="Calibri"/>
              </a:rPr>
              <a:t>← Mức BKS (Gap = 0)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18120" y="1600200"/>
            <a:ext cx="3977639" cy="1353312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18120" y="1691640"/>
            <a:ext cx="3977639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10B981"/>
                </a:solidFill>
                <a:latin typeface="Georgia"/>
              </a:rPr>
              <a:t>−0.75%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8120" y="2468880"/>
            <a:ext cx="397763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Gap% R1 · Vượt BKS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18120" y="3172968"/>
            <a:ext cx="3977639" cy="1353312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18120" y="3264408"/>
            <a:ext cx="3977639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10B981"/>
                </a:solidFill>
                <a:latin typeface="Georgia"/>
              </a:rPr>
              <a:t>−0.36%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8120" y="4041648"/>
            <a:ext cx="397763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Gap% RC1 · Vượt BKS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18120" y="4745736"/>
            <a:ext cx="3977639" cy="1353312"/>
          </a:xfrm>
          <a:prstGeom prst="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18120" y="4837175"/>
            <a:ext cx="3977639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6366F1"/>
                </a:solidFill>
                <a:latin typeface="Georgia"/>
              </a:rPr>
              <a:t>1.97×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18120" y="5614416"/>
            <a:ext cx="397763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Nhanh hơn ALNS thuần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366F1"/>
                </a:solidFill>
                <a:latin typeface="Calibri"/>
              </a:rPr>
              <a:t>Slide 10  ·  Kết quả Chi tiết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8FAFC"/>
                </a:solidFill>
                <a:latin typeface="Georgia"/>
              </a:rPr>
              <a:t>Bảng So sánh Thuật toán — Solomon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6187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ALNS  ·  H-Fixed  ·  H-Rule  ·  H-DDQN  ·  Transfer-DR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53312"/>
            <a:ext cx="502920" cy="6400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508760"/>
          <a:ext cx="813816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1737360"/>
                <a:gridCol w="1005840"/>
                <a:gridCol w="1005840"/>
                <a:gridCol w="1280160"/>
                <a:gridCol w="1188720"/>
                <a:gridCol w="91440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6366F1"/>
                          </a:solidFill>
                          <a:latin typeface="Calibri"/>
                        </a:rPr>
                        <a:t>Họ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6366F1"/>
                          </a:solidFill>
                          <a:latin typeface="Calibri"/>
                        </a:rPr>
                        <a:t>Thuật toán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6366F1"/>
                          </a:solidFill>
                          <a:latin typeface="Calibri"/>
                        </a:rPr>
                        <a:t>NV̄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6366F1"/>
                          </a:solidFill>
                          <a:latin typeface="Calibri"/>
                        </a:rPr>
                        <a:t>ΔNV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6366F1"/>
                          </a:solidFill>
                          <a:latin typeface="Calibri"/>
                        </a:rPr>
                        <a:t>TD̄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6366F1"/>
                          </a:solidFill>
                          <a:latin typeface="Calibri"/>
                        </a:rPr>
                        <a:t>Gap%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6366F1"/>
                          </a:solidFill>
                          <a:latin typeface="Calibri"/>
                        </a:rPr>
                        <a:t>t(s)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94A3B8"/>
                          </a:solidFill>
                          <a:latin typeface="Calibri"/>
                        </a:rPr>
                        <a:t>C1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94A3B8"/>
                          </a:solidFill>
                          <a:latin typeface="Calibri"/>
                        </a:rPr>
                        <a:t>ALNS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94A3B8"/>
                          </a:solidFill>
                          <a:latin typeface="Calibri"/>
                        </a:rPr>
                        <a:t>10.00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94A3B8"/>
                          </a:solidFill>
                          <a:latin typeface="Calibri"/>
                        </a:rPr>
                        <a:t>+0.00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94A3B8"/>
                          </a:solidFill>
                          <a:latin typeface="Calibri"/>
                        </a:rPr>
                        <a:t>829.2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94A3B8"/>
                          </a:solidFill>
                          <a:latin typeface="Calibri"/>
                        </a:rPr>
                        <a:t>+0.10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94A3B8"/>
                          </a:solidFill>
                          <a:latin typeface="Calibri"/>
                        </a:rPr>
                        <a:t>18.4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8FAFC"/>
                          </a:solidFill>
                          <a:latin typeface="Calibri"/>
                        </a:rPr>
                        <a:t>C1</a:t>
                      </a:r>
                    </a:p>
                  </a:txBody>
                  <a:tcPr>
                    <a:solidFill>
                      <a:srgbClr val="1621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8FAFC"/>
                          </a:solidFill>
                          <a:latin typeface="Calibri"/>
                        </a:rPr>
                        <a:t>H-DDQN ★</a:t>
                      </a:r>
                    </a:p>
                  </a:txBody>
                  <a:tcPr>
                    <a:solidFill>
                      <a:srgbClr val="1621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8FAFC"/>
                          </a:solidFill>
                          <a:latin typeface="Calibri"/>
                        </a:rPr>
                        <a:t>10.00</a:t>
                      </a:r>
                    </a:p>
                  </a:txBody>
                  <a:tcPr>
                    <a:solidFill>
                      <a:srgbClr val="1621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8FAFC"/>
                          </a:solidFill>
                          <a:latin typeface="Calibri"/>
                        </a:rPr>
                        <a:t>+0.00</a:t>
                      </a:r>
                    </a:p>
                  </a:txBody>
                  <a:tcPr>
                    <a:solidFill>
                      <a:srgbClr val="1621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8FAFC"/>
                          </a:solidFill>
                          <a:latin typeface="Calibri"/>
                        </a:rPr>
                        <a:t>828.4</a:t>
                      </a:r>
                    </a:p>
                  </a:txBody>
                  <a:tcPr>
                    <a:solidFill>
                      <a:srgbClr val="1621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8FAFC"/>
                          </a:solidFill>
                          <a:latin typeface="Calibri"/>
                        </a:rPr>
                        <a:t>+0.01</a:t>
                      </a:r>
                    </a:p>
                  </a:txBody>
                  <a:tcPr>
                    <a:solidFill>
                      <a:srgbClr val="1621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8FAFC"/>
                          </a:solidFill>
                          <a:latin typeface="Calibri"/>
                        </a:rPr>
                        <a:t>39.4</a:t>
                      </a:r>
                    </a:p>
                  </a:txBody>
                  <a:tcPr>
                    <a:solidFill>
                      <a:srgbClr val="16213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94A3B8"/>
                          </a:solidFill>
                          <a:latin typeface="Calibri"/>
                        </a:rPr>
                        <a:t>R1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94A3B8"/>
                          </a:solidFill>
                          <a:latin typeface="Calibri"/>
                        </a:rPr>
                        <a:t>ALNS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94A3B8"/>
                          </a:solidFill>
                          <a:latin typeface="Calibri"/>
                        </a:rPr>
                        <a:t>12.78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94A3B8"/>
                          </a:solidFill>
                          <a:latin typeface="Calibri"/>
                        </a:rPr>
                        <a:t>+0.87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94A3B8"/>
                          </a:solidFill>
                          <a:latin typeface="Calibri"/>
                        </a:rPr>
                        <a:t>1220.6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94A3B8"/>
                          </a:solidFill>
                          <a:latin typeface="Calibri"/>
                        </a:rPr>
                        <a:t>+0.88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94A3B8"/>
                          </a:solidFill>
                          <a:latin typeface="Calibri"/>
                        </a:rPr>
                        <a:t>20.3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8FAFC"/>
                          </a:solidFill>
                          <a:latin typeface="Calibri"/>
                        </a:rPr>
                        <a:t>R1</a:t>
                      </a:r>
                    </a:p>
                  </a:txBody>
                  <a:tcPr>
                    <a:solidFill>
                      <a:srgbClr val="1621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8FAFC"/>
                          </a:solidFill>
                          <a:latin typeface="Calibri"/>
                        </a:rPr>
                        <a:t>H-DDQN ★</a:t>
                      </a:r>
                    </a:p>
                  </a:txBody>
                  <a:tcPr>
                    <a:solidFill>
                      <a:srgbClr val="1621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8FAFC"/>
                          </a:solidFill>
                          <a:latin typeface="Calibri"/>
                        </a:rPr>
                        <a:t>12.68</a:t>
                      </a:r>
                    </a:p>
                  </a:txBody>
                  <a:tcPr>
                    <a:solidFill>
                      <a:srgbClr val="1621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8FAFC"/>
                          </a:solidFill>
                          <a:latin typeface="Calibri"/>
                        </a:rPr>
                        <a:t>+0.77</a:t>
                      </a:r>
                    </a:p>
                  </a:txBody>
                  <a:tcPr>
                    <a:solidFill>
                      <a:srgbClr val="1621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8FAFC"/>
                          </a:solidFill>
                          <a:latin typeface="Calibri"/>
                        </a:rPr>
                        <a:t>1201.9</a:t>
                      </a:r>
                    </a:p>
                  </a:txBody>
                  <a:tcPr>
                    <a:solidFill>
                      <a:srgbClr val="1621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0B981"/>
                          </a:solidFill>
                          <a:latin typeface="Calibri"/>
                        </a:rPr>
                        <a:t>−0.75</a:t>
                      </a:r>
                    </a:p>
                  </a:txBody>
                  <a:tcPr>
                    <a:solidFill>
                      <a:srgbClr val="1621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8FAFC"/>
                          </a:solidFill>
                          <a:latin typeface="Calibri"/>
                        </a:rPr>
                        <a:t>41.0</a:t>
                      </a:r>
                    </a:p>
                  </a:txBody>
                  <a:tcPr>
                    <a:solidFill>
                      <a:srgbClr val="16213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94A3B8"/>
                          </a:solidFill>
                          <a:latin typeface="Calibri"/>
                        </a:rPr>
                        <a:t>R1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94A3B8"/>
                          </a:solidFill>
                          <a:latin typeface="Calibri"/>
                        </a:rPr>
                        <a:t>T-DR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94A3B8"/>
                          </a:solidFill>
                          <a:latin typeface="Calibri"/>
                        </a:rPr>
                        <a:t>12.87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94A3B8"/>
                          </a:solidFill>
                          <a:latin typeface="Calibri"/>
                        </a:rPr>
                        <a:t>+0.95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94A3B8"/>
                          </a:solidFill>
                          <a:latin typeface="Calibri"/>
                        </a:rPr>
                        <a:t>1208.0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0B981"/>
                          </a:solidFill>
                          <a:latin typeface="Calibri"/>
                        </a:rPr>
                        <a:t>−0.17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94A3B8"/>
                          </a:solidFill>
                          <a:latin typeface="Calibri"/>
                        </a:rPr>
                        <a:t>41.4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94A3B8"/>
                          </a:solidFill>
                          <a:latin typeface="Calibri"/>
                        </a:rPr>
                        <a:t>RC1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94A3B8"/>
                          </a:solidFill>
                          <a:latin typeface="Calibri"/>
                        </a:rPr>
                        <a:t>ALNS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94A3B8"/>
                          </a:solidFill>
                          <a:latin typeface="Calibri"/>
                        </a:rPr>
                        <a:t>12.57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94A3B8"/>
                          </a:solidFill>
                          <a:latin typeface="Calibri"/>
                        </a:rPr>
                        <a:t>+1.07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94A3B8"/>
                          </a:solidFill>
                          <a:latin typeface="Calibri"/>
                        </a:rPr>
                        <a:t>1406.5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94A3B8"/>
                          </a:solidFill>
                          <a:latin typeface="Calibri"/>
                        </a:rPr>
                        <a:t>+1.91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94A3B8"/>
                          </a:solidFill>
                          <a:latin typeface="Calibri"/>
                        </a:rPr>
                        <a:t>19.8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8FAFC"/>
                          </a:solidFill>
                          <a:latin typeface="Calibri"/>
                        </a:rPr>
                        <a:t>RC1</a:t>
                      </a:r>
                    </a:p>
                  </a:txBody>
                  <a:tcPr>
                    <a:solidFill>
                      <a:srgbClr val="1621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8FAFC"/>
                          </a:solidFill>
                          <a:latin typeface="Calibri"/>
                        </a:rPr>
                        <a:t>H-DDQN ★</a:t>
                      </a:r>
                    </a:p>
                  </a:txBody>
                  <a:tcPr>
                    <a:solidFill>
                      <a:srgbClr val="1621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8FAFC"/>
                          </a:solidFill>
                          <a:latin typeface="Calibri"/>
                        </a:rPr>
                        <a:t>12.35</a:t>
                      </a:r>
                    </a:p>
                  </a:txBody>
                  <a:tcPr>
                    <a:solidFill>
                      <a:srgbClr val="1621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8FAFC"/>
                          </a:solidFill>
                          <a:latin typeface="Calibri"/>
                        </a:rPr>
                        <a:t>+0.85</a:t>
                      </a:r>
                    </a:p>
                  </a:txBody>
                  <a:tcPr>
                    <a:solidFill>
                      <a:srgbClr val="1621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8FAFC"/>
                          </a:solidFill>
                          <a:latin typeface="Calibri"/>
                        </a:rPr>
                        <a:t>1374.5</a:t>
                      </a:r>
                    </a:p>
                  </a:txBody>
                  <a:tcPr>
                    <a:solidFill>
                      <a:srgbClr val="1621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0B981"/>
                          </a:solidFill>
                          <a:latin typeface="Calibri"/>
                        </a:rPr>
                        <a:t>−0.36</a:t>
                      </a:r>
                    </a:p>
                  </a:txBody>
                  <a:tcPr>
                    <a:solidFill>
                      <a:srgbClr val="1621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8FAFC"/>
                          </a:solidFill>
                          <a:latin typeface="Calibri"/>
                        </a:rPr>
                        <a:t>38.0</a:t>
                      </a:r>
                    </a:p>
                  </a:txBody>
                  <a:tcPr>
                    <a:solidFill>
                      <a:srgbClr val="16213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94A3B8"/>
                          </a:solidFill>
                          <a:latin typeface="Calibri"/>
                        </a:rPr>
                        <a:t>RC1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94A3B8"/>
                          </a:solidFill>
                          <a:latin typeface="Calibri"/>
                        </a:rPr>
                        <a:t>T-DR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94A3B8"/>
                          </a:solidFill>
                          <a:latin typeface="Calibri"/>
                        </a:rPr>
                        <a:t>12.73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94A3B8"/>
                          </a:solidFill>
                          <a:latin typeface="Calibri"/>
                        </a:rPr>
                        <a:t>+1.23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94A3B8"/>
                          </a:solidFill>
                          <a:latin typeface="Calibri"/>
                        </a:rPr>
                        <a:t>1395.6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94A3B8"/>
                          </a:solidFill>
                          <a:latin typeface="Calibri"/>
                        </a:rPr>
                        <a:t>+1.17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94A3B8"/>
                          </a:solidFill>
                          <a:latin typeface="Calibri"/>
                        </a:rPr>
                        <a:t>46.4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94A3B8"/>
                          </a:solidFill>
                          <a:latin typeface="Calibri"/>
                        </a:rPr>
                        <a:t>RC2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94A3B8"/>
                          </a:solidFill>
                          <a:latin typeface="Calibri"/>
                        </a:rPr>
                        <a:t>ALNS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94A3B8"/>
                          </a:solidFill>
                          <a:latin typeface="Calibri"/>
                        </a:rPr>
                        <a:t>3.50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94A3B8"/>
                          </a:solidFill>
                          <a:latin typeface="Calibri"/>
                        </a:rPr>
                        <a:t>+0.25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94A3B8"/>
                          </a:solidFill>
                          <a:latin typeface="Calibri"/>
                        </a:rPr>
                        <a:t>1145.8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94A3B8"/>
                          </a:solidFill>
                          <a:latin typeface="Calibri"/>
                        </a:rPr>
                        <a:t>+2.77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94A3B8"/>
                          </a:solidFill>
                          <a:latin typeface="Calibri"/>
                        </a:rPr>
                        <a:t>19.9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8FAFC"/>
                          </a:solidFill>
                          <a:latin typeface="Calibri"/>
                        </a:rPr>
                        <a:t>RC2</a:t>
                      </a:r>
                    </a:p>
                  </a:txBody>
                  <a:tcPr>
                    <a:solidFill>
                      <a:srgbClr val="1621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8FAFC"/>
                          </a:solidFill>
                          <a:latin typeface="Calibri"/>
                        </a:rPr>
                        <a:t>H-DDQN ★</a:t>
                      </a:r>
                    </a:p>
                  </a:txBody>
                  <a:tcPr>
                    <a:solidFill>
                      <a:srgbClr val="1621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8FAFC"/>
                          </a:solidFill>
                          <a:latin typeface="Calibri"/>
                        </a:rPr>
                        <a:t>3.48</a:t>
                      </a:r>
                    </a:p>
                  </a:txBody>
                  <a:tcPr>
                    <a:solidFill>
                      <a:srgbClr val="1621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8FAFC"/>
                          </a:solidFill>
                          <a:latin typeface="Calibri"/>
                        </a:rPr>
                        <a:t>+0.23</a:t>
                      </a:r>
                    </a:p>
                  </a:txBody>
                  <a:tcPr>
                    <a:solidFill>
                      <a:srgbClr val="1621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8FAFC"/>
                          </a:solidFill>
                          <a:latin typeface="Calibri"/>
                        </a:rPr>
                        <a:t>1125.0</a:t>
                      </a:r>
                    </a:p>
                  </a:txBody>
                  <a:tcPr>
                    <a:solidFill>
                      <a:srgbClr val="1621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8FAFC"/>
                          </a:solidFill>
                          <a:latin typeface="Calibri"/>
                        </a:rPr>
                        <a:t>+0.90</a:t>
                      </a:r>
                    </a:p>
                  </a:txBody>
                  <a:tcPr>
                    <a:solidFill>
                      <a:srgbClr val="1621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8FAFC"/>
                          </a:solidFill>
                          <a:latin typeface="Calibri"/>
                        </a:rPr>
                        <a:t>42.8</a:t>
                      </a:r>
                    </a:p>
                  </a:txBody>
                  <a:tcPr>
                    <a:solidFill>
                      <a:srgbClr val="1621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366F1"/>
                </a:solidFill>
                <a:latin typeface="Calibri"/>
              </a:rPr>
              <a:t>Slide 11  ·  Tổng quát hóa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8FAFC"/>
                </a:solidFill>
                <a:latin typeface="Georgia"/>
              </a:rPr>
              <a:t>Zero-Shot Transfer — Không Huấn luyện trên Solomon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6187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Transfer Tax: chỉ +1.27%  ·  Vẫn duy trì Gap âm trên R1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53312"/>
            <a:ext cx="502920" cy="6400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508760"/>
            <a:ext cx="5394960" cy="2788920"/>
          </a:xfrm>
          <a:prstGeom prst="rect">
            <a:avLst/>
          </a:prstGeom>
          <a:solidFill>
            <a:srgbClr val="1E293B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57276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2D3EE"/>
                </a:solidFill>
                <a:latin typeface="Calibri"/>
              </a:rPr>
              <a:t>TRANSFER TAX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920240"/>
            <a:ext cx="5212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22D3EE"/>
                </a:solidFill>
                <a:latin typeface="Calibri"/>
              </a:rPr>
              <a:t>▸  </a:t>
            </a:r>
            <a:r>
              <a:rPr sz="1300">
                <a:solidFill>
                  <a:srgbClr val="10B981"/>
                </a:solidFill>
                <a:latin typeface="Calibri"/>
              </a:rPr>
              <a:t>RC1: +1.27% Transfer Tax (thấp)</a:t>
            </a:r>
          </a:p>
          <a:p>
            <a:pPr algn="l"/>
            <a:r>
              <a:rPr sz="1100">
                <a:solidFill>
                  <a:srgbClr val="22D3EE"/>
                </a:solidFill>
                <a:latin typeface="Calibri"/>
              </a:rPr>
              <a:t>▸  </a:t>
            </a:r>
            <a:r>
              <a:rPr sz="1300">
                <a:solidFill>
                  <a:srgbClr val="10B981"/>
                </a:solidFill>
                <a:latin typeface="Calibri"/>
              </a:rPr>
              <a:t>R1: vẫn Gap âm −0.17% (Zero-shot!)</a:t>
            </a:r>
          </a:p>
          <a:p>
            <a:pPr algn="l"/>
            <a:r>
              <a:rPr sz="1100">
                <a:solidFill>
                  <a:srgbClr val="22D3EE"/>
                </a:solidFill>
                <a:latin typeface="Calibri"/>
              </a:rPr>
              <a:t>▸  </a:t>
            </a:r>
            <a:r>
              <a:rPr sz="1300">
                <a:solidFill>
                  <a:srgbClr val="F43F5E"/>
                </a:solidFill>
                <a:latin typeface="Calibri"/>
              </a:rPr>
              <a:t>C2: +4.88% — Gap lớn nhất</a:t>
            </a:r>
          </a:p>
          <a:p>
            <a:pPr algn="l"/>
            <a:r>
              <a:rPr sz="1100">
                <a:solidFill>
                  <a:srgbClr val="22D3EE"/>
                </a:solidFill>
                <a:latin typeface="Calibri"/>
              </a:rPr>
              <a:t>▸  </a:t>
            </a:r>
            <a:r>
              <a:rPr sz="1300">
                <a:solidFill>
                  <a:srgbClr val="F43F5E"/>
                </a:solidFill>
                <a:latin typeface="Calibri"/>
              </a:rPr>
              <a:t>RC2: +3.63%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4370832"/>
            <a:ext cx="5394960" cy="2103120"/>
          </a:xfrm>
          <a:prstGeom prst="rect">
            <a:avLst/>
          </a:prstGeom>
          <a:solidFill>
            <a:srgbClr val="1E293B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443484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B5CF6"/>
                </a:solidFill>
                <a:latin typeface="Calibri"/>
              </a:rPr>
              <a:t>NGUYÊN NHÂN GAP LỚN (C2)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809744"/>
            <a:ext cx="52120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8B5CF6"/>
                </a:solidFill>
                <a:latin typeface="Calibri"/>
              </a:rPr>
              <a:t>▸  </a:t>
            </a:r>
            <a:r>
              <a:rPr sz="1200">
                <a:solidFill>
                  <a:srgbClr val="F8FAFC"/>
                </a:solidFill>
                <a:latin typeface="Calibri"/>
              </a:rPr>
              <a:t>Phân phối Chaos RC hỗn hợp không đại diện đủ cho C2 thuần</a:t>
            </a:r>
          </a:p>
          <a:p>
            <a:pPr algn="l"/>
            <a:r>
              <a:rPr sz="1000">
                <a:solidFill>
                  <a:srgbClr val="8B5CF6"/>
                </a:solidFill>
                <a:latin typeface="Calibri"/>
              </a:rPr>
              <a:t>▸  </a:t>
            </a:r>
            <a:r>
              <a:rPr sz="1200">
                <a:solidFill>
                  <a:srgbClr val="F8FAFC"/>
                </a:solidFill>
                <a:latin typeface="Calibri"/>
              </a:rPr>
              <a:t>TW rộng → phần thưởng sparse → khó tổng quát hóa</a:t>
            </a:r>
          </a:p>
          <a:p>
            <a:pPr algn="l"/>
            <a:r>
              <a:rPr sz="1000">
                <a:solidFill>
                  <a:srgbClr val="8B5CF6"/>
                </a:solidFill>
                <a:latin typeface="Calibri"/>
              </a:rPr>
              <a:t>▸  </a:t>
            </a:r>
            <a:r>
              <a:rPr sz="1200">
                <a:solidFill>
                  <a:srgbClr val="F8FAFC"/>
                </a:solidFill>
                <a:latin typeface="Calibri"/>
              </a:rPr>
              <a:t>Hướng cải thiện: bổ sung phân phối C &amp; R thuần vào DR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1508760"/>
            <a:ext cx="5669280" cy="2971800"/>
          </a:xfrm>
          <a:prstGeom prst="rect">
            <a:avLst/>
          </a:prstGeom>
          <a:solidFill>
            <a:srgbClr val="04121A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157276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2D3EE"/>
                </a:solidFill>
                <a:latin typeface="Calibri"/>
              </a:rPr>
              <a:t>BẰNG CHỨNG TỔNG QUÁT HÓA THỰC SỰ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1938528"/>
            <a:ext cx="544068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8FAFC"/>
                </a:solidFill>
                <a:latin typeface="Calibri"/>
              </a:rPr>
              <a:t>Transfer-DR duy trì Gap âm trên R1 (−0.17%) dù KHÔNG HỀ được huấn luyện trực tiếp trên bất kỳ thực thể Solomon nào. Mô hình học quy luật định tuyến, không ghi nhớ đặc trưng tĩnh.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0" y="4617720"/>
            <a:ext cx="2743200" cy="1371600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0" y="4681728"/>
            <a:ext cx="2743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0B981"/>
                </a:solidFill>
                <a:latin typeface="Georgia"/>
              </a:rPr>
              <a:t>−0.17%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532180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R1 Zero-shot Gap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06840" y="4617720"/>
            <a:ext cx="2743200" cy="1371600"/>
          </a:xfrm>
          <a:prstGeom prst="rect">
            <a:avLst/>
          </a:prstGeom>
          <a:solidFill>
            <a:srgbClr val="1E293B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06840" y="4681728"/>
            <a:ext cx="2743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22D3EE"/>
                </a:solidFill>
                <a:latin typeface="Georgia"/>
              </a:rPr>
              <a:t>+1.27%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06840" y="532180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Transfer Tax RC1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366F1"/>
                </a:solidFill>
                <a:latin typeface="Calibri"/>
              </a:rPr>
              <a:t>Slide 12  ·  Thảo luận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8FAFC"/>
                </a:solidFill>
                <a:latin typeface="Georgia"/>
              </a:rPr>
              <a:t>Tại sao Vượt BKS? — Phân tích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6187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Điều kiện hiệu quả  ·  Giới hạn phương pháp  ·  So sánh OR-Tools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53312"/>
            <a:ext cx="502920" cy="6400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508760"/>
            <a:ext cx="5394960" cy="2560320"/>
          </a:xfrm>
          <a:prstGeom prst="rect">
            <a:avLst/>
          </a:prstGeom>
          <a:solidFill>
            <a:srgbClr val="041007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57276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Calibri"/>
              </a:rPr>
              <a:t>✅  ĐIỀU KIỆN ƯU VIỆT — R1, RC1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938528"/>
            <a:ext cx="52120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0B981"/>
                </a:solidFill>
                <a:latin typeface="Calibri"/>
              </a:rPr>
              <a:t>▸  </a:t>
            </a:r>
            <a:r>
              <a:rPr sz="1200">
                <a:solidFill>
                  <a:srgbClr val="10B981"/>
                </a:solidFill>
                <a:latin typeface="Calibri"/>
              </a:rPr>
              <a:t>TW hẹp: f_tw cao, ràng buộc chặt</a:t>
            </a:r>
          </a:p>
          <a:p>
            <a:pPr algn="l"/>
            <a:r>
              <a:rPr sz="1000">
                <a:solidFill>
                  <a:srgbClr val="10B981"/>
                </a:solidFill>
                <a:latin typeface="Calibri"/>
              </a:rPr>
              <a:t>▸  </a:t>
            </a:r>
            <a:r>
              <a:rPr sz="1200">
                <a:solidFill>
                  <a:srgbClr val="10B981"/>
                </a:solidFill>
                <a:latin typeface="Calibri"/>
              </a:rPr>
              <a:t>Phần thưởng có cấu trúc rõ (dense reward)</a:t>
            </a:r>
          </a:p>
          <a:p>
            <a:pPr algn="l"/>
            <a:r>
              <a:rPr sz="1000">
                <a:solidFill>
                  <a:srgbClr val="10B981"/>
                </a:solidFill>
                <a:latin typeface="Calibri"/>
              </a:rPr>
              <a:t>▸  </a:t>
            </a:r>
            <a:r>
              <a:rPr sz="1200">
                <a:solidFill>
                  <a:srgbClr val="10B981"/>
                </a:solidFill>
                <a:latin typeface="Calibri"/>
              </a:rPr>
              <a:t>Mode tw_rescue → tổ hợp tw_urgent + tw_greedy</a:t>
            </a:r>
          </a:p>
          <a:p>
            <a:pPr algn="l"/>
            <a:r>
              <a:rPr sz="1000">
                <a:solidFill>
                  <a:srgbClr val="10B981"/>
                </a:solidFill>
                <a:latin typeface="Calibri"/>
              </a:rPr>
              <a:t>▸  </a:t>
            </a:r>
            <a:r>
              <a:rPr sz="1200">
                <a:solidFill>
                  <a:srgbClr val="10B981"/>
                </a:solidFill>
                <a:latin typeface="Calibri"/>
              </a:rPr>
              <a:t>RL học chính sách phân biệt toán tử tinh tế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4160520"/>
            <a:ext cx="5394960" cy="2286000"/>
          </a:xfrm>
          <a:prstGeom prst="rect">
            <a:avLst/>
          </a:prstGeom>
          <a:solidFill>
            <a:srgbClr val="1A050A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422452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43F5E"/>
                </a:solidFill>
                <a:latin typeface="Calibri"/>
              </a:rPr>
              <a:t>⚠️  GIỚI HẠN — C2, RC2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572000"/>
            <a:ext cx="5212080" cy="1810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F43F5E"/>
                </a:solidFill>
                <a:latin typeface="Calibri"/>
              </a:rPr>
              <a:t>▸  </a:t>
            </a:r>
            <a:r>
              <a:rPr sz="1200">
                <a:solidFill>
                  <a:srgbClr val="F43F5E"/>
                </a:solidFill>
                <a:latin typeface="Calibri"/>
              </a:rPr>
              <a:t>TW rộng → phần thưởng sparse → gradient mờ</a:t>
            </a:r>
          </a:p>
          <a:p>
            <a:pPr algn="l"/>
            <a:r>
              <a:rPr sz="1000">
                <a:solidFill>
                  <a:srgbClr val="F43F5E"/>
                </a:solidFill>
                <a:latin typeface="Calibri"/>
              </a:rPr>
              <a:t>▸  </a:t>
            </a:r>
            <a:r>
              <a:rPr sz="1200">
                <a:solidFill>
                  <a:srgbClr val="F43F5E"/>
                </a:solidFill>
                <a:latin typeface="Calibri"/>
              </a:rPr>
              <a:t>Nhiều lịch trình khả thi chi phí tương đương</a:t>
            </a:r>
          </a:p>
          <a:p>
            <a:pPr algn="l"/>
            <a:r>
              <a:rPr sz="1000">
                <a:solidFill>
                  <a:srgbClr val="F43F5E"/>
                </a:solidFill>
                <a:latin typeface="Calibri"/>
              </a:rPr>
              <a:t>▸  </a:t>
            </a:r>
            <a:r>
              <a:rPr sz="1200">
                <a:solidFill>
                  <a:srgbClr val="F8FAFC"/>
                </a:solidFill>
                <a:latin typeface="Calibri"/>
              </a:rPr>
              <a:t>Reward shaping chuyên biệt là hướng nghiên cứu mở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1508760"/>
            <a:ext cx="5669280" cy="2377440"/>
          </a:xfrm>
          <a:prstGeom prst="rect">
            <a:avLst/>
          </a:prstGeom>
          <a:solidFill>
            <a:srgbClr val="1E293B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157276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B5CF6"/>
                </a:solidFill>
                <a:latin typeface="Calibri"/>
              </a:rPr>
              <a:t>VAI TRÒ WELFORD NORMALIZER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1938528"/>
            <a:ext cx="544068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8FAFC"/>
                </a:solidFill>
                <a:latin typeface="Calibri"/>
              </a:rPr>
              <a:t>Không có Welford: gradient explode sau 50→100 nút, loss tăng 10³×. Welford giải quyết hoàn toàn mà không cần thay đổi kiến trúc hay hyperparameters.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0" y="4023360"/>
            <a:ext cx="5669280" cy="2468880"/>
          </a:xfrm>
          <a:prstGeom prst="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408736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366F1"/>
                </a:solidFill>
                <a:latin typeface="Calibri"/>
              </a:rPr>
              <a:t>SO SÁNH KỶ LUẬT XE VỚI OR-TOOLS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80" y="4498848"/>
            <a:ext cx="2743200" cy="1078992"/>
          </a:xfrm>
          <a:prstGeom prst="rect">
            <a:avLst/>
          </a:prstGeom>
          <a:noFill/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0" y="4544568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0B981"/>
                </a:solidFill>
                <a:latin typeface="Georgia"/>
              </a:rPr>
              <a:t>+0.36 xe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507492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H-DDQN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06840" y="4498848"/>
            <a:ext cx="2743200" cy="1078992"/>
          </a:xfrm>
          <a:prstGeom prst="rect">
            <a:avLst/>
          </a:prstGeom>
          <a:noFill/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06840" y="4544568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43F5E"/>
                </a:solidFill>
                <a:latin typeface="Georgia"/>
              </a:rPr>
              <a:t>+1.57 xe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06840" y="507492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OR-Tools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5623560"/>
            <a:ext cx="5440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  <a:latin typeface="Calibri"/>
              </a:rPr>
              <a:t>→ Lợi thế 4.4×  nhờ tối ưu lexicographic nghiêm ngặt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366F1"/>
                </a:solidFill>
                <a:latin typeface="Calibri"/>
              </a:rPr>
              <a:t>Slide 13  ·  Kết luận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8FAFC"/>
                </a:solidFill>
                <a:latin typeface="Georgia"/>
              </a:rPr>
              <a:t>Kết luận &amp; Hướng Phát triển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6187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Hybrid DDQN-ALNS  ·  Ba đóng góp kỹ thuật  ·  State-of-the-art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53312"/>
            <a:ext cx="502920" cy="6400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508760"/>
            <a:ext cx="7132320" cy="841248"/>
          </a:xfrm>
          <a:prstGeom prst="rect">
            <a:avLst/>
          </a:prstGeom>
          <a:solidFill>
            <a:srgbClr val="041007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664207"/>
            <a:ext cx="411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6446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8FAFC"/>
                </a:solidFill>
                <a:latin typeface="Calibri"/>
              </a:rPr>
              <a:t>Gap âm R1 (−0.75%) &amp; RC1 (−0.36%) — vượt BKS, lần đầu tiên với Hybrid RL-ALNS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487168"/>
            <a:ext cx="7132320" cy="841248"/>
          </a:xfrm>
          <a:prstGeom prst="rect">
            <a:avLst/>
          </a:prstGeom>
          <a:solidFill>
            <a:srgbClr val="041007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642615"/>
            <a:ext cx="411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578608"/>
            <a:ext cx="6446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8FAFC"/>
                </a:solidFill>
                <a:latin typeface="Calibri"/>
              </a:rPr>
              <a:t>Zero-shot Transfer Tax chỉ +1.27% — không huấn luyện trực tiếp trên Solomon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465576"/>
            <a:ext cx="7132320" cy="841248"/>
          </a:xfrm>
          <a:prstGeom prst="rect">
            <a:avLst/>
          </a:prstGeom>
          <a:solidFill>
            <a:srgbClr val="041007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621024"/>
            <a:ext cx="411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557016"/>
            <a:ext cx="6446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8FAFC"/>
                </a:solidFill>
                <a:latin typeface="Calibri"/>
              </a:rPr>
              <a:t>Kỷ luật xe: +0.36 xe (DDQN) vs +1.57 xe (OR-Tools) — lợi thế 4.4×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443983"/>
            <a:ext cx="7132320" cy="841248"/>
          </a:xfrm>
          <a:prstGeom prst="rect">
            <a:avLst/>
          </a:prstGeom>
          <a:solidFill>
            <a:srgbClr val="041007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4599431"/>
            <a:ext cx="411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535423"/>
            <a:ext cx="6446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8FAFC"/>
                </a:solidFill>
                <a:latin typeface="Calibri"/>
              </a:rPr>
              <a:t>Hội tụ nhanh hơn ALNS thuần 1.97×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55279" y="1508760"/>
            <a:ext cx="3840480" cy="3931920"/>
          </a:xfrm>
          <a:prstGeom prst="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92440" y="157276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366F1"/>
                </a:solidFill>
                <a:latin typeface="Calibri"/>
              </a:rPr>
              <a:t>HƯỚNG PHÁT TRIỂN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92440" y="1938528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366F1"/>
                </a:solidFill>
                <a:latin typeface="Calibri"/>
              </a:rPr>
              <a:t>① GNN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2440" y="2276856"/>
            <a:ext cx="3520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Mã hóa cấu trúc đồ thị trực tiếp, thay thế đặc trưng thủ công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2440" y="3054096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  <a:latin typeface="Calibri"/>
              </a:rPr>
              <a:t>② Domain Randomization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92440" y="3392424"/>
            <a:ext cx="3520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Bổ sung phân phối C &amp; R thuần → giảm Transfer Tax C2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92440" y="4169664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  <a:latin typeface="Calibri"/>
              </a:rPr>
              <a:t>③ Gehring-Homberger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92440" y="4507992"/>
            <a:ext cx="3520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Kiểm tra khả năng mở rộng lên 1000 nút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6263640"/>
            <a:ext cx="11430000" cy="502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6291072"/>
            <a:ext cx="11155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Trường ĐH Tôn Đức Thắng  ·  GVHD: TS. Hồ Thị Linh  ·  Cảm ơn Hội đồng đã lắng nghe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